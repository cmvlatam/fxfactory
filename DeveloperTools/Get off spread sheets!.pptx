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58" r:id="rId6"/>
    <p:sldId id="261" r:id="rId7"/>
    <p:sldId id="260" r:id="rId8"/>
    <p:sldId id="266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5226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9EA13A-E946-4125-95C3-B9C456A006C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535D90-8488-478E-BB5D-F73EF391CE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cmvdb_uat (testing database) </a:t>
          </a:r>
          <a:endParaRPr lang="en-US"/>
        </a:p>
      </dgm:t>
    </dgm:pt>
    <dgm:pt modelId="{3EF3C08D-F2BD-4DE9-97B8-86D57A2CDEF9}" type="parTrans" cxnId="{77259890-C9C2-4E60-A7D8-AC856A9FBD38}">
      <dgm:prSet/>
      <dgm:spPr/>
      <dgm:t>
        <a:bodyPr/>
        <a:lstStyle/>
        <a:p>
          <a:endParaRPr lang="en-US"/>
        </a:p>
      </dgm:t>
    </dgm:pt>
    <dgm:pt modelId="{4300902C-F3E4-43FD-8A7A-3B86128EB325}" type="sibTrans" cxnId="{77259890-C9C2-4E60-A7D8-AC856A9FBD38}">
      <dgm:prSet/>
      <dgm:spPr/>
      <dgm:t>
        <a:bodyPr/>
        <a:lstStyle/>
        <a:p>
          <a:endParaRPr lang="en-US"/>
        </a:p>
      </dgm:t>
    </dgm:pt>
    <dgm:pt modelId="{DEA5759C-0E86-465F-96C3-720DC500EC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Journal principle, Every transaction most be registered</a:t>
          </a:r>
          <a:endParaRPr lang="en-US"/>
        </a:p>
      </dgm:t>
    </dgm:pt>
    <dgm:pt modelId="{70EC5AF3-460C-44EE-B1A0-CF867E4E42FF}" type="parTrans" cxnId="{6305D8B7-1B48-4D42-915A-3C876AA5D959}">
      <dgm:prSet/>
      <dgm:spPr/>
      <dgm:t>
        <a:bodyPr/>
        <a:lstStyle/>
        <a:p>
          <a:endParaRPr lang="en-US"/>
        </a:p>
      </dgm:t>
    </dgm:pt>
    <dgm:pt modelId="{FD9B3B4F-6ADA-4E05-ADCF-00F33841950D}" type="sibTrans" cxnId="{6305D8B7-1B48-4D42-915A-3C876AA5D959}">
      <dgm:prSet/>
      <dgm:spPr/>
      <dgm:t>
        <a:bodyPr/>
        <a:lstStyle/>
        <a:p>
          <a:endParaRPr lang="en-US"/>
        </a:p>
      </dgm:t>
    </dgm:pt>
    <dgm:pt modelId="{9F60219A-CBDB-4F85-B36D-8ADA1963EF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Ticket_print</a:t>
          </a:r>
          <a:r>
            <a:rPr lang="en-US" b="0" i="0" dirty="0"/>
            <a:t> function</a:t>
          </a:r>
          <a:endParaRPr lang="en-US" dirty="0"/>
        </a:p>
      </dgm:t>
    </dgm:pt>
    <dgm:pt modelId="{3DE6BC0B-DCFA-4498-904B-A7807466FA69}" type="parTrans" cxnId="{F2829657-48BC-4BE6-A637-EFFEBAF528FA}">
      <dgm:prSet/>
      <dgm:spPr/>
      <dgm:t>
        <a:bodyPr/>
        <a:lstStyle/>
        <a:p>
          <a:endParaRPr lang="en-US"/>
        </a:p>
      </dgm:t>
    </dgm:pt>
    <dgm:pt modelId="{8FFBBD1A-2C88-4758-B533-795246D88E0B}" type="sibTrans" cxnId="{F2829657-48BC-4BE6-A637-EFFEBAF528FA}">
      <dgm:prSet/>
      <dgm:spPr/>
      <dgm:t>
        <a:bodyPr/>
        <a:lstStyle/>
        <a:p>
          <a:endParaRPr lang="en-US"/>
        </a:p>
      </dgm:t>
    </dgm:pt>
    <dgm:pt modelId="{77B5B13F-8772-4E3C-B62D-B4034B18A4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inserts a new "trade" or line into the dbo.fxblotter.t (transactions)</a:t>
          </a:r>
          <a:endParaRPr lang="en-US"/>
        </a:p>
      </dgm:t>
    </dgm:pt>
    <dgm:pt modelId="{BD0306FE-0026-4E76-B733-EBEA36228AD1}" type="parTrans" cxnId="{B2A6FF6E-517C-4FCF-B6C5-CDE063566E23}">
      <dgm:prSet/>
      <dgm:spPr/>
      <dgm:t>
        <a:bodyPr/>
        <a:lstStyle/>
        <a:p>
          <a:endParaRPr lang="en-US"/>
        </a:p>
      </dgm:t>
    </dgm:pt>
    <dgm:pt modelId="{90AB0261-DF6E-43B1-9C5A-8E98C7187A23}" type="sibTrans" cxnId="{B2A6FF6E-517C-4FCF-B6C5-CDE063566E23}">
      <dgm:prSet/>
      <dgm:spPr/>
      <dgm:t>
        <a:bodyPr/>
        <a:lstStyle/>
        <a:p>
          <a:endParaRPr lang="en-US"/>
        </a:p>
      </dgm:t>
    </dgm:pt>
    <dgm:pt modelId="{3F030918-8F36-4604-8831-C672EB6536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Risk Management Read function for </a:t>
          </a:r>
          <a:r>
            <a:rPr lang="en-US" b="0" i="0" dirty="0" err="1"/>
            <a:t>cmvdb_uat</a:t>
          </a:r>
          <a:r>
            <a:rPr lang="en-US" b="0" i="0" dirty="0"/>
            <a:t> </a:t>
          </a:r>
          <a:endParaRPr lang="en-US" dirty="0"/>
        </a:p>
      </dgm:t>
    </dgm:pt>
    <dgm:pt modelId="{402BD7BF-021C-4BA6-8269-1E3789ADE425}" type="parTrans" cxnId="{F55D5D6F-461E-4361-A7A5-A35E08E30EB2}">
      <dgm:prSet/>
      <dgm:spPr/>
      <dgm:t>
        <a:bodyPr/>
        <a:lstStyle/>
        <a:p>
          <a:endParaRPr lang="en-US"/>
        </a:p>
      </dgm:t>
    </dgm:pt>
    <dgm:pt modelId="{20AC209E-1C5C-49C3-B23E-B9F4CF5AFFA6}" type="sibTrans" cxnId="{F55D5D6F-461E-4361-A7A5-A35E08E30EB2}">
      <dgm:prSet/>
      <dgm:spPr/>
      <dgm:t>
        <a:bodyPr/>
        <a:lstStyle/>
        <a:p>
          <a:endParaRPr lang="en-US"/>
        </a:p>
      </dgm:t>
    </dgm:pt>
    <dgm:pt modelId="{E53E1A54-390F-4B9A-AC4D-0496858CE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(Math calculation problem) analytics: </a:t>
          </a:r>
          <a:r>
            <a:rPr lang="en-US" b="0" i="0" dirty="0" err="1"/>
            <a:t>Fx</a:t>
          </a:r>
          <a:r>
            <a:rPr lang="en-US" b="0" i="0" dirty="0"/>
            <a:t> position </a:t>
          </a:r>
          <a:endParaRPr lang="en-US" dirty="0"/>
        </a:p>
      </dgm:t>
    </dgm:pt>
    <dgm:pt modelId="{857939D8-E85D-4025-92B6-24747CC19D03}" type="parTrans" cxnId="{70E4C6ED-2640-41BF-8A6F-2F3189483BA6}">
      <dgm:prSet/>
      <dgm:spPr/>
      <dgm:t>
        <a:bodyPr/>
        <a:lstStyle/>
        <a:p>
          <a:endParaRPr lang="en-US"/>
        </a:p>
      </dgm:t>
    </dgm:pt>
    <dgm:pt modelId="{B7CFBFA1-9722-4AF0-9083-138E56F11C0B}" type="sibTrans" cxnId="{70E4C6ED-2640-41BF-8A6F-2F3189483BA6}">
      <dgm:prSet/>
      <dgm:spPr/>
      <dgm:t>
        <a:bodyPr/>
        <a:lstStyle/>
        <a:p>
          <a:endParaRPr lang="en-US"/>
        </a:p>
      </dgm:t>
    </dgm:pt>
    <dgm:pt modelId="{091B4EB3-FFCD-46E0-9348-5C15B2941E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Calculate PnL and EoD Profit n Loss report</a:t>
          </a:r>
          <a:endParaRPr lang="en-US"/>
        </a:p>
      </dgm:t>
    </dgm:pt>
    <dgm:pt modelId="{F5A7DFFE-D779-43AC-9B6B-AA49FC8BF38A}" type="parTrans" cxnId="{E440C204-0DE7-4DB0-9A92-863DDBACA0C8}">
      <dgm:prSet/>
      <dgm:spPr/>
      <dgm:t>
        <a:bodyPr/>
        <a:lstStyle/>
        <a:p>
          <a:endParaRPr lang="en-US"/>
        </a:p>
      </dgm:t>
    </dgm:pt>
    <dgm:pt modelId="{0720B6DB-417E-4B7C-82AF-874FB09034B1}" type="sibTrans" cxnId="{E440C204-0DE7-4DB0-9A92-863DDBACA0C8}">
      <dgm:prSet/>
      <dgm:spPr/>
      <dgm:t>
        <a:bodyPr/>
        <a:lstStyle/>
        <a:p>
          <a:endParaRPr lang="en-US"/>
        </a:p>
      </dgm:t>
    </dgm:pt>
    <dgm:pt modelId="{E7707152-FC17-437E-A3AD-EDC6724F6F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NightVision</a:t>
          </a:r>
          <a:r>
            <a:rPr lang="en-US" b="0" i="0" dirty="0"/>
            <a:t> - "the tool for sales traders" </a:t>
          </a:r>
          <a:endParaRPr lang="en-US" dirty="0"/>
        </a:p>
      </dgm:t>
    </dgm:pt>
    <dgm:pt modelId="{9AD46B3E-AF8E-498F-8EF0-0341D227D26C}" type="parTrans" cxnId="{74B2A4AD-E026-486F-A7EF-792734B6DBC0}">
      <dgm:prSet/>
      <dgm:spPr/>
      <dgm:t>
        <a:bodyPr/>
        <a:lstStyle/>
        <a:p>
          <a:endParaRPr lang="en-US"/>
        </a:p>
      </dgm:t>
    </dgm:pt>
    <dgm:pt modelId="{B1ACE0CB-6849-423B-9BED-62DCF4AE087F}" type="sibTrans" cxnId="{74B2A4AD-E026-486F-A7EF-792734B6DBC0}">
      <dgm:prSet/>
      <dgm:spPr/>
      <dgm:t>
        <a:bodyPr/>
        <a:lstStyle/>
        <a:p>
          <a:endParaRPr lang="en-US"/>
        </a:p>
      </dgm:t>
    </dgm:pt>
    <dgm:pt modelId="{18AC543E-8545-4B04-A735-95E5761E44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reads information from fxblotter.h </a:t>
          </a:r>
          <a:endParaRPr lang="en-US"/>
        </a:p>
      </dgm:t>
    </dgm:pt>
    <dgm:pt modelId="{FFB9EB7E-FC6F-4DD7-905C-93EFA7C3470B}" type="parTrans" cxnId="{D93D51EF-E58F-4384-9A71-D6691F3B1FFE}">
      <dgm:prSet/>
      <dgm:spPr/>
      <dgm:t>
        <a:bodyPr/>
        <a:lstStyle/>
        <a:p>
          <a:endParaRPr lang="en-US"/>
        </a:p>
      </dgm:t>
    </dgm:pt>
    <dgm:pt modelId="{EC005CA7-A0D6-4D81-A043-85DD13DA644B}" type="sibTrans" cxnId="{D93D51EF-E58F-4384-9A71-D6691F3B1FFE}">
      <dgm:prSet/>
      <dgm:spPr/>
      <dgm:t>
        <a:bodyPr/>
        <a:lstStyle/>
        <a:p>
          <a:endParaRPr lang="en-US"/>
        </a:p>
      </dgm:t>
    </dgm:pt>
    <dgm:pt modelId="{74AEC24E-6572-4CC8-AFD4-9B439ADB81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Rolling Analytics (20day, 10day, 5day; 20txs, 10txs, 5txs) </a:t>
          </a:r>
          <a:endParaRPr lang="en-US"/>
        </a:p>
      </dgm:t>
    </dgm:pt>
    <dgm:pt modelId="{EA6A9213-BA38-4149-9847-58B14EB8511F}" type="parTrans" cxnId="{0064DDF2-5249-46AB-BF19-91D213852856}">
      <dgm:prSet/>
      <dgm:spPr/>
      <dgm:t>
        <a:bodyPr/>
        <a:lstStyle/>
        <a:p>
          <a:endParaRPr lang="en-US"/>
        </a:p>
      </dgm:t>
    </dgm:pt>
    <dgm:pt modelId="{CA55E00D-C6EA-4789-A8CE-87B49191B30F}" type="sibTrans" cxnId="{0064DDF2-5249-46AB-BF19-91D213852856}">
      <dgm:prSet/>
      <dgm:spPr/>
      <dgm:t>
        <a:bodyPr/>
        <a:lstStyle/>
        <a:p>
          <a:endParaRPr lang="en-US"/>
        </a:p>
      </dgm:t>
    </dgm:pt>
    <dgm:pt modelId="{4E402FC4-D96A-46AF-A4A1-B53DC5E552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visualisation of historic spread flow </a:t>
          </a:r>
          <a:endParaRPr lang="en-US"/>
        </a:p>
      </dgm:t>
    </dgm:pt>
    <dgm:pt modelId="{85344600-8AA0-41AA-B0E6-21B643E543D7}" type="parTrans" cxnId="{AAE13503-2161-4441-9756-BEB19ADA6A1F}">
      <dgm:prSet/>
      <dgm:spPr/>
      <dgm:t>
        <a:bodyPr/>
        <a:lstStyle/>
        <a:p>
          <a:endParaRPr lang="en-US"/>
        </a:p>
      </dgm:t>
    </dgm:pt>
    <dgm:pt modelId="{AD9B4C9B-0875-4B93-8CA0-C52C8D09BF27}" type="sibTrans" cxnId="{AAE13503-2161-4441-9756-BEB19ADA6A1F}">
      <dgm:prSet/>
      <dgm:spPr/>
      <dgm:t>
        <a:bodyPr/>
        <a:lstStyle/>
        <a:p>
          <a:endParaRPr lang="en-US"/>
        </a:p>
      </dgm:t>
    </dgm:pt>
    <dgm:pt modelId="{6C0924C2-B691-4B7D-B66C-04743C6246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Aggregated analytics/metrics (total amount, total tickets, total clients, avg ticket bid, avg ticket offer)</a:t>
          </a:r>
          <a:endParaRPr lang="en-US" dirty="0"/>
        </a:p>
      </dgm:t>
    </dgm:pt>
    <dgm:pt modelId="{6867464A-AE32-4912-82BB-9E1391410F91}" type="parTrans" cxnId="{D4DB2050-9325-48F2-888E-63644C725DDD}">
      <dgm:prSet/>
      <dgm:spPr/>
      <dgm:t>
        <a:bodyPr/>
        <a:lstStyle/>
        <a:p>
          <a:endParaRPr lang="en-US"/>
        </a:p>
      </dgm:t>
    </dgm:pt>
    <dgm:pt modelId="{660034D6-26AD-4E8C-B8DC-5AA0991F0056}" type="sibTrans" cxnId="{D4DB2050-9325-48F2-888E-63644C725DDD}">
      <dgm:prSet/>
      <dgm:spPr/>
      <dgm:t>
        <a:bodyPr/>
        <a:lstStyle/>
        <a:p>
          <a:endParaRPr lang="en-US"/>
        </a:p>
      </dgm:t>
    </dgm:pt>
    <dgm:pt modelId="{81781DB7-23F8-48FE-9208-C223D83FBE33}" type="pres">
      <dgm:prSet presAssocID="{E59EA13A-E946-4125-95C3-B9C456A006C9}" presName="root" presStyleCnt="0">
        <dgm:presLayoutVars>
          <dgm:dir/>
          <dgm:resizeHandles val="exact"/>
        </dgm:presLayoutVars>
      </dgm:prSet>
      <dgm:spPr/>
    </dgm:pt>
    <dgm:pt modelId="{F48B2C9B-BCC5-409B-8CF7-291FFF7B23EA}" type="pres">
      <dgm:prSet presAssocID="{41535D90-8488-478E-BB5D-F73EF391CE3F}" presName="compNode" presStyleCnt="0"/>
      <dgm:spPr/>
    </dgm:pt>
    <dgm:pt modelId="{552797B2-EFEA-49AF-824B-74F3AAE0F916}" type="pres">
      <dgm:prSet presAssocID="{41535D90-8488-478E-BB5D-F73EF391CE3F}" presName="bgRect" presStyleLbl="bgShp" presStyleIdx="0" presStyleCnt="5"/>
      <dgm:spPr/>
    </dgm:pt>
    <dgm:pt modelId="{9A6CBF79-31B5-491E-B2EF-7C8FCDD50893}" type="pres">
      <dgm:prSet presAssocID="{41535D90-8488-478E-BB5D-F73EF391CE3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8231CD7-EDD1-44BF-AA98-CAA801C4047B}" type="pres">
      <dgm:prSet presAssocID="{41535D90-8488-478E-BB5D-F73EF391CE3F}" presName="spaceRect" presStyleCnt="0"/>
      <dgm:spPr/>
    </dgm:pt>
    <dgm:pt modelId="{90FEAC14-CBCD-4D9F-8A1B-304E00C206C5}" type="pres">
      <dgm:prSet presAssocID="{41535D90-8488-478E-BB5D-F73EF391CE3F}" presName="parTx" presStyleLbl="revTx" presStyleIdx="0" presStyleCnt="9">
        <dgm:presLayoutVars>
          <dgm:chMax val="0"/>
          <dgm:chPref val="0"/>
        </dgm:presLayoutVars>
      </dgm:prSet>
      <dgm:spPr/>
    </dgm:pt>
    <dgm:pt modelId="{D4EE3BF8-778F-4FC5-A3A7-F014DD11426D}" type="pres">
      <dgm:prSet presAssocID="{41535D90-8488-478E-BB5D-F73EF391CE3F}" presName="desTx" presStyleLbl="revTx" presStyleIdx="1" presStyleCnt="9">
        <dgm:presLayoutVars/>
      </dgm:prSet>
      <dgm:spPr/>
    </dgm:pt>
    <dgm:pt modelId="{F34B0B26-8C06-434F-B92B-18B8F1C1F963}" type="pres">
      <dgm:prSet presAssocID="{4300902C-F3E4-43FD-8A7A-3B86128EB325}" presName="sibTrans" presStyleCnt="0"/>
      <dgm:spPr/>
    </dgm:pt>
    <dgm:pt modelId="{EC73E8CC-9D1F-4DB5-BCD6-1F8C6062D331}" type="pres">
      <dgm:prSet presAssocID="{9F60219A-CBDB-4F85-B36D-8ADA1963EF5E}" presName="compNode" presStyleCnt="0"/>
      <dgm:spPr/>
    </dgm:pt>
    <dgm:pt modelId="{E09C919F-907A-4666-B31A-89E6F5B1D305}" type="pres">
      <dgm:prSet presAssocID="{9F60219A-CBDB-4F85-B36D-8ADA1963EF5E}" presName="bgRect" presStyleLbl="bgShp" presStyleIdx="1" presStyleCnt="5"/>
      <dgm:spPr/>
    </dgm:pt>
    <dgm:pt modelId="{25A1D558-C058-4A28-B42B-E3E182C039D7}" type="pres">
      <dgm:prSet presAssocID="{9F60219A-CBDB-4F85-B36D-8ADA1963EF5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47847251-5EA5-4071-BB64-9D3ED9E1F0B7}" type="pres">
      <dgm:prSet presAssocID="{9F60219A-CBDB-4F85-B36D-8ADA1963EF5E}" presName="spaceRect" presStyleCnt="0"/>
      <dgm:spPr/>
    </dgm:pt>
    <dgm:pt modelId="{2C2E3B58-F8F8-474A-BF71-C50EF32430C7}" type="pres">
      <dgm:prSet presAssocID="{9F60219A-CBDB-4F85-B36D-8ADA1963EF5E}" presName="parTx" presStyleLbl="revTx" presStyleIdx="2" presStyleCnt="9">
        <dgm:presLayoutVars>
          <dgm:chMax val="0"/>
          <dgm:chPref val="0"/>
        </dgm:presLayoutVars>
      </dgm:prSet>
      <dgm:spPr/>
    </dgm:pt>
    <dgm:pt modelId="{733CA99D-7E2D-4595-B2C0-D915840387FC}" type="pres">
      <dgm:prSet presAssocID="{9F60219A-CBDB-4F85-B36D-8ADA1963EF5E}" presName="desTx" presStyleLbl="revTx" presStyleIdx="3" presStyleCnt="9">
        <dgm:presLayoutVars/>
      </dgm:prSet>
      <dgm:spPr/>
    </dgm:pt>
    <dgm:pt modelId="{56F46AC7-69B1-46BB-B7F2-F2263441AC0A}" type="pres">
      <dgm:prSet presAssocID="{8FFBBD1A-2C88-4758-B533-795246D88E0B}" presName="sibTrans" presStyleCnt="0"/>
      <dgm:spPr/>
    </dgm:pt>
    <dgm:pt modelId="{4FC718D4-D135-4482-B798-4160AA7EB5BD}" type="pres">
      <dgm:prSet presAssocID="{3F030918-8F36-4604-8831-C672EB6536C7}" presName="compNode" presStyleCnt="0"/>
      <dgm:spPr/>
    </dgm:pt>
    <dgm:pt modelId="{7C9358D0-391E-4C75-BD7E-1B62F2049A70}" type="pres">
      <dgm:prSet presAssocID="{3F030918-8F36-4604-8831-C672EB6536C7}" presName="bgRect" presStyleLbl="bgShp" presStyleIdx="2" presStyleCnt="5"/>
      <dgm:spPr/>
    </dgm:pt>
    <dgm:pt modelId="{D71C521C-8577-4BEE-8995-A838371DA0A5}" type="pres">
      <dgm:prSet presAssocID="{3F030918-8F36-4604-8831-C672EB6536C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78C136BC-A9F7-4EB8-A60C-4B26F4D79BEA}" type="pres">
      <dgm:prSet presAssocID="{3F030918-8F36-4604-8831-C672EB6536C7}" presName="spaceRect" presStyleCnt="0"/>
      <dgm:spPr/>
    </dgm:pt>
    <dgm:pt modelId="{CB4C3C1F-6671-4BAD-96BC-2B6452A01FEE}" type="pres">
      <dgm:prSet presAssocID="{3F030918-8F36-4604-8831-C672EB6536C7}" presName="parTx" presStyleLbl="revTx" presStyleIdx="4" presStyleCnt="9">
        <dgm:presLayoutVars>
          <dgm:chMax val="0"/>
          <dgm:chPref val="0"/>
        </dgm:presLayoutVars>
      </dgm:prSet>
      <dgm:spPr/>
    </dgm:pt>
    <dgm:pt modelId="{F58EE2AE-808A-43F8-9CDC-3B7CDE05E4F8}" type="pres">
      <dgm:prSet presAssocID="{3F030918-8F36-4604-8831-C672EB6536C7}" presName="desTx" presStyleLbl="revTx" presStyleIdx="5" presStyleCnt="9">
        <dgm:presLayoutVars/>
      </dgm:prSet>
      <dgm:spPr/>
    </dgm:pt>
    <dgm:pt modelId="{33B02800-FB81-42C6-BA8C-A9290111C6E5}" type="pres">
      <dgm:prSet presAssocID="{20AC209E-1C5C-49C3-B23E-B9F4CF5AFFA6}" presName="sibTrans" presStyleCnt="0"/>
      <dgm:spPr/>
    </dgm:pt>
    <dgm:pt modelId="{FBC541FB-8F5B-443E-9DC1-B531A97D10C8}" type="pres">
      <dgm:prSet presAssocID="{091B4EB3-FFCD-46E0-9348-5C15B2941EFB}" presName="compNode" presStyleCnt="0"/>
      <dgm:spPr/>
    </dgm:pt>
    <dgm:pt modelId="{CD3B1B18-D160-425D-B18B-4C856F633880}" type="pres">
      <dgm:prSet presAssocID="{091B4EB3-FFCD-46E0-9348-5C15B2941EFB}" presName="bgRect" presStyleLbl="bgShp" presStyleIdx="3" presStyleCnt="5"/>
      <dgm:spPr/>
    </dgm:pt>
    <dgm:pt modelId="{86BA7C18-B9D5-4B95-A364-67B333BA99FC}" type="pres">
      <dgm:prSet presAssocID="{091B4EB3-FFCD-46E0-9348-5C15B2941EF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E3FD079-42E7-4CBA-87F0-79759273B4F7}" type="pres">
      <dgm:prSet presAssocID="{091B4EB3-FFCD-46E0-9348-5C15B2941EFB}" presName="spaceRect" presStyleCnt="0"/>
      <dgm:spPr/>
    </dgm:pt>
    <dgm:pt modelId="{FB457A51-1A08-4995-A0FD-1847285D3D41}" type="pres">
      <dgm:prSet presAssocID="{091B4EB3-FFCD-46E0-9348-5C15B2941EFB}" presName="parTx" presStyleLbl="revTx" presStyleIdx="6" presStyleCnt="9">
        <dgm:presLayoutVars>
          <dgm:chMax val="0"/>
          <dgm:chPref val="0"/>
        </dgm:presLayoutVars>
      </dgm:prSet>
      <dgm:spPr/>
    </dgm:pt>
    <dgm:pt modelId="{E3BF1DF8-2233-4B51-9EFA-81FA289409E0}" type="pres">
      <dgm:prSet presAssocID="{0720B6DB-417E-4B7C-82AF-874FB09034B1}" presName="sibTrans" presStyleCnt="0"/>
      <dgm:spPr/>
    </dgm:pt>
    <dgm:pt modelId="{F0A65192-0B8E-4DB3-9ABA-E8674D8ED73A}" type="pres">
      <dgm:prSet presAssocID="{E7707152-FC17-437E-A3AD-EDC6724F6FF7}" presName="compNode" presStyleCnt="0"/>
      <dgm:spPr/>
    </dgm:pt>
    <dgm:pt modelId="{13A901F3-40E3-4D80-89B2-3F642225E84C}" type="pres">
      <dgm:prSet presAssocID="{E7707152-FC17-437E-A3AD-EDC6724F6FF7}" presName="bgRect" presStyleLbl="bgShp" presStyleIdx="4" presStyleCnt="5"/>
      <dgm:spPr/>
    </dgm:pt>
    <dgm:pt modelId="{4943675D-9F88-4AFA-AF96-26671A6DADD9}" type="pres">
      <dgm:prSet presAssocID="{E7707152-FC17-437E-A3AD-EDC6724F6F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DA275D88-5AEF-4776-959F-FD451CF046C3}" type="pres">
      <dgm:prSet presAssocID="{E7707152-FC17-437E-A3AD-EDC6724F6FF7}" presName="spaceRect" presStyleCnt="0"/>
      <dgm:spPr/>
    </dgm:pt>
    <dgm:pt modelId="{EEE6033C-579B-4664-B7C0-95CD6CD4F76A}" type="pres">
      <dgm:prSet presAssocID="{E7707152-FC17-437E-A3AD-EDC6724F6FF7}" presName="parTx" presStyleLbl="revTx" presStyleIdx="7" presStyleCnt="9">
        <dgm:presLayoutVars>
          <dgm:chMax val="0"/>
          <dgm:chPref val="0"/>
        </dgm:presLayoutVars>
      </dgm:prSet>
      <dgm:spPr/>
    </dgm:pt>
    <dgm:pt modelId="{7513FC86-FEBA-4C6F-B00A-D3BEEFD91343}" type="pres">
      <dgm:prSet presAssocID="{E7707152-FC17-437E-A3AD-EDC6724F6FF7}" presName="desTx" presStyleLbl="revTx" presStyleIdx="8" presStyleCnt="9" custScaleX="115428">
        <dgm:presLayoutVars/>
      </dgm:prSet>
      <dgm:spPr/>
    </dgm:pt>
  </dgm:ptLst>
  <dgm:cxnLst>
    <dgm:cxn modelId="{AAE13503-2161-4441-9756-BEB19ADA6A1F}" srcId="{E7707152-FC17-437E-A3AD-EDC6724F6FF7}" destId="{4E402FC4-D96A-46AF-A4A1-B53DC5E55266}" srcOrd="2" destOrd="0" parTransId="{85344600-8AA0-41AA-B0E6-21B643E543D7}" sibTransId="{AD9B4C9B-0875-4B93-8CA0-C52C8D09BF27}"/>
    <dgm:cxn modelId="{C0E06D04-E521-4459-BACA-AE2A57B2A585}" type="presOf" srcId="{E53E1A54-390F-4B9A-AC4D-0496858CE235}" destId="{F58EE2AE-808A-43F8-9CDC-3B7CDE05E4F8}" srcOrd="0" destOrd="0" presId="urn:microsoft.com/office/officeart/2018/2/layout/IconVerticalSolidList"/>
    <dgm:cxn modelId="{E440C204-0DE7-4DB0-9A92-863DDBACA0C8}" srcId="{E59EA13A-E946-4125-95C3-B9C456A006C9}" destId="{091B4EB3-FFCD-46E0-9348-5C15B2941EFB}" srcOrd="3" destOrd="0" parTransId="{F5A7DFFE-D779-43AC-9B6B-AA49FC8BF38A}" sibTransId="{0720B6DB-417E-4B7C-82AF-874FB09034B1}"/>
    <dgm:cxn modelId="{4249261F-860A-4777-8D10-40E7DAA6A060}" type="presOf" srcId="{E7707152-FC17-437E-A3AD-EDC6724F6FF7}" destId="{EEE6033C-579B-4664-B7C0-95CD6CD4F76A}" srcOrd="0" destOrd="0" presId="urn:microsoft.com/office/officeart/2018/2/layout/IconVerticalSolidList"/>
    <dgm:cxn modelId="{FDEE561F-D31C-455D-B907-06C9019997BD}" type="presOf" srcId="{4E402FC4-D96A-46AF-A4A1-B53DC5E55266}" destId="{7513FC86-FEBA-4C6F-B00A-D3BEEFD91343}" srcOrd="0" destOrd="2" presId="urn:microsoft.com/office/officeart/2018/2/layout/IconVerticalSolidList"/>
    <dgm:cxn modelId="{B2A6FF6E-517C-4FCF-B6C5-CDE063566E23}" srcId="{9F60219A-CBDB-4F85-B36D-8ADA1963EF5E}" destId="{77B5B13F-8772-4E3C-B62D-B4034B18A481}" srcOrd="0" destOrd="0" parTransId="{BD0306FE-0026-4E76-B733-EBEA36228AD1}" sibTransId="{90AB0261-DF6E-43B1-9C5A-8E98C7187A23}"/>
    <dgm:cxn modelId="{F55D5D6F-461E-4361-A7A5-A35E08E30EB2}" srcId="{E59EA13A-E946-4125-95C3-B9C456A006C9}" destId="{3F030918-8F36-4604-8831-C672EB6536C7}" srcOrd="2" destOrd="0" parTransId="{402BD7BF-021C-4BA6-8269-1E3789ADE425}" sibTransId="{20AC209E-1C5C-49C3-B23E-B9F4CF5AFFA6}"/>
    <dgm:cxn modelId="{D4DB2050-9325-48F2-888E-63644C725DDD}" srcId="{E7707152-FC17-437E-A3AD-EDC6724F6FF7}" destId="{6C0924C2-B691-4B7D-B66C-04743C624628}" srcOrd="3" destOrd="0" parTransId="{6867464A-AE32-4912-82BB-9E1391410F91}" sibTransId="{660034D6-26AD-4E8C-B8DC-5AA0991F0056}"/>
    <dgm:cxn modelId="{DFB2CD51-0738-4F93-BB4A-121DBD7292E6}" type="presOf" srcId="{E59EA13A-E946-4125-95C3-B9C456A006C9}" destId="{81781DB7-23F8-48FE-9208-C223D83FBE33}" srcOrd="0" destOrd="0" presId="urn:microsoft.com/office/officeart/2018/2/layout/IconVerticalSolidList"/>
    <dgm:cxn modelId="{4325A674-17F4-499F-A222-D1511803D76C}" type="presOf" srcId="{DEA5759C-0E86-465F-96C3-720DC500EC5C}" destId="{D4EE3BF8-778F-4FC5-A3A7-F014DD11426D}" srcOrd="0" destOrd="0" presId="urn:microsoft.com/office/officeart/2018/2/layout/IconVerticalSolidList"/>
    <dgm:cxn modelId="{F2829657-48BC-4BE6-A637-EFFEBAF528FA}" srcId="{E59EA13A-E946-4125-95C3-B9C456A006C9}" destId="{9F60219A-CBDB-4F85-B36D-8ADA1963EF5E}" srcOrd="1" destOrd="0" parTransId="{3DE6BC0B-DCFA-4498-904B-A7807466FA69}" sibTransId="{8FFBBD1A-2C88-4758-B533-795246D88E0B}"/>
    <dgm:cxn modelId="{8BDB6558-9C95-4A38-B68F-D8D26C0A08EC}" type="presOf" srcId="{6C0924C2-B691-4B7D-B66C-04743C624628}" destId="{7513FC86-FEBA-4C6F-B00A-D3BEEFD91343}" srcOrd="0" destOrd="3" presId="urn:microsoft.com/office/officeart/2018/2/layout/IconVerticalSolidList"/>
    <dgm:cxn modelId="{7DAA4A79-1641-4201-9A37-045696D9255A}" type="presOf" srcId="{74AEC24E-6572-4CC8-AFD4-9B439ADB8103}" destId="{7513FC86-FEBA-4C6F-B00A-D3BEEFD91343}" srcOrd="0" destOrd="1" presId="urn:microsoft.com/office/officeart/2018/2/layout/IconVerticalSolidList"/>
    <dgm:cxn modelId="{1ACA947B-BEC2-4BCA-921F-7F43EE12FB41}" type="presOf" srcId="{091B4EB3-FFCD-46E0-9348-5C15B2941EFB}" destId="{FB457A51-1A08-4995-A0FD-1847285D3D41}" srcOrd="0" destOrd="0" presId="urn:microsoft.com/office/officeart/2018/2/layout/IconVerticalSolidList"/>
    <dgm:cxn modelId="{08817B82-8A99-4B3D-9A5D-035BEC6E7E57}" type="presOf" srcId="{41535D90-8488-478E-BB5D-F73EF391CE3F}" destId="{90FEAC14-CBCD-4D9F-8A1B-304E00C206C5}" srcOrd="0" destOrd="0" presId="urn:microsoft.com/office/officeart/2018/2/layout/IconVerticalSolidList"/>
    <dgm:cxn modelId="{F2FA448E-495D-4A2F-8861-15E11E062ABD}" type="presOf" srcId="{77B5B13F-8772-4E3C-B62D-B4034B18A481}" destId="{733CA99D-7E2D-4595-B2C0-D915840387FC}" srcOrd="0" destOrd="0" presId="urn:microsoft.com/office/officeart/2018/2/layout/IconVerticalSolidList"/>
    <dgm:cxn modelId="{77259890-C9C2-4E60-A7D8-AC856A9FBD38}" srcId="{E59EA13A-E946-4125-95C3-B9C456A006C9}" destId="{41535D90-8488-478E-BB5D-F73EF391CE3F}" srcOrd="0" destOrd="0" parTransId="{3EF3C08D-F2BD-4DE9-97B8-86D57A2CDEF9}" sibTransId="{4300902C-F3E4-43FD-8A7A-3B86128EB325}"/>
    <dgm:cxn modelId="{DD1A1EAB-50EE-4C71-BAC7-B5DF5D76D10A}" type="presOf" srcId="{9F60219A-CBDB-4F85-B36D-8ADA1963EF5E}" destId="{2C2E3B58-F8F8-474A-BF71-C50EF32430C7}" srcOrd="0" destOrd="0" presId="urn:microsoft.com/office/officeart/2018/2/layout/IconVerticalSolidList"/>
    <dgm:cxn modelId="{74B2A4AD-E026-486F-A7EF-792734B6DBC0}" srcId="{E59EA13A-E946-4125-95C3-B9C456A006C9}" destId="{E7707152-FC17-437E-A3AD-EDC6724F6FF7}" srcOrd="4" destOrd="0" parTransId="{9AD46B3E-AF8E-498F-8EF0-0341D227D26C}" sibTransId="{B1ACE0CB-6849-423B-9BED-62DCF4AE087F}"/>
    <dgm:cxn modelId="{6305D8B7-1B48-4D42-915A-3C876AA5D959}" srcId="{41535D90-8488-478E-BB5D-F73EF391CE3F}" destId="{DEA5759C-0E86-465F-96C3-720DC500EC5C}" srcOrd="0" destOrd="0" parTransId="{70EC5AF3-460C-44EE-B1A0-CF867E4E42FF}" sibTransId="{FD9B3B4F-6ADA-4E05-ADCF-00F33841950D}"/>
    <dgm:cxn modelId="{56763CD6-2BC7-40B5-853B-928BB13BB7D5}" type="presOf" srcId="{18AC543E-8545-4B04-A735-95E5761E44A5}" destId="{7513FC86-FEBA-4C6F-B00A-D3BEEFD91343}" srcOrd="0" destOrd="0" presId="urn:microsoft.com/office/officeart/2018/2/layout/IconVerticalSolidList"/>
    <dgm:cxn modelId="{2D4D07DB-BB97-45DE-9757-CAA6A3D84784}" type="presOf" srcId="{3F030918-8F36-4604-8831-C672EB6536C7}" destId="{CB4C3C1F-6671-4BAD-96BC-2B6452A01FEE}" srcOrd="0" destOrd="0" presId="urn:microsoft.com/office/officeart/2018/2/layout/IconVerticalSolidList"/>
    <dgm:cxn modelId="{70E4C6ED-2640-41BF-8A6F-2F3189483BA6}" srcId="{3F030918-8F36-4604-8831-C672EB6536C7}" destId="{E53E1A54-390F-4B9A-AC4D-0496858CE235}" srcOrd="0" destOrd="0" parTransId="{857939D8-E85D-4025-92B6-24747CC19D03}" sibTransId="{B7CFBFA1-9722-4AF0-9083-138E56F11C0B}"/>
    <dgm:cxn modelId="{D93D51EF-E58F-4384-9A71-D6691F3B1FFE}" srcId="{E7707152-FC17-437E-A3AD-EDC6724F6FF7}" destId="{18AC543E-8545-4B04-A735-95E5761E44A5}" srcOrd="0" destOrd="0" parTransId="{FFB9EB7E-FC6F-4DD7-905C-93EFA7C3470B}" sibTransId="{EC005CA7-A0D6-4D81-A043-85DD13DA644B}"/>
    <dgm:cxn modelId="{0064DDF2-5249-46AB-BF19-91D213852856}" srcId="{E7707152-FC17-437E-A3AD-EDC6724F6FF7}" destId="{74AEC24E-6572-4CC8-AFD4-9B439ADB8103}" srcOrd="1" destOrd="0" parTransId="{EA6A9213-BA38-4149-9847-58B14EB8511F}" sibTransId="{CA55E00D-C6EA-4789-A8CE-87B49191B30F}"/>
    <dgm:cxn modelId="{D972E36F-042C-4D28-BC54-3678B7B864A3}" type="presParOf" srcId="{81781DB7-23F8-48FE-9208-C223D83FBE33}" destId="{F48B2C9B-BCC5-409B-8CF7-291FFF7B23EA}" srcOrd="0" destOrd="0" presId="urn:microsoft.com/office/officeart/2018/2/layout/IconVerticalSolidList"/>
    <dgm:cxn modelId="{E9064FBC-38B0-404D-A0FB-ADAEFAF90583}" type="presParOf" srcId="{F48B2C9B-BCC5-409B-8CF7-291FFF7B23EA}" destId="{552797B2-EFEA-49AF-824B-74F3AAE0F916}" srcOrd="0" destOrd="0" presId="urn:microsoft.com/office/officeart/2018/2/layout/IconVerticalSolidList"/>
    <dgm:cxn modelId="{4A67183E-AAE3-4AFE-A405-363D95F7413A}" type="presParOf" srcId="{F48B2C9B-BCC5-409B-8CF7-291FFF7B23EA}" destId="{9A6CBF79-31B5-491E-B2EF-7C8FCDD50893}" srcOrd="1" destOrd="0" presId="urn:microsoft.com/office/officeart/2018/2/layout/IconVerticalSolidList"/>
    <dgm:cxn modelId="{AC400A34-41E8-457B-9B85-B3F232D47692}" type="presParOf" srcId="{F48B2C9B-BCC5-409B-8CF7-291FFF7B23EA}" destId="{48231CD7-EDD1-44BF-AA98-CAA801C4047B}" srcOrd="2" destOrd="0" presId="urn:microsoft.com/office/officeart/2018/2/layout/IconVerticalSolidList"/>
    <dgm:cxn modelId="{2703222E-0C84-47C8-A6C8-4E982DB3CEF3}" type="presParOf" srcId="{F48B2C9B-BCC5-409B-8CF7-291FFF7B23EA}" destId="{90FEAC14-CBCD-4D9F-8A1B-304E00C206C5}" srcOrd="3" destOrd="0" presId="urn:microsoft.com/office/officeart/2018/2/layout/IconVerticalSolidList"/>
    <dgm:cxn modelId="{C4ACB688-3509-4C5C-A3C9-9317DFB19BC8}" type="presParOf" srcId="{F48B2C9B-BCC5-409B-8CF7-291FFF7B23EA}" destId="{D4EE3BF8-778F-4FC5-A3A7-F014DD11426D}" srcOrd="4" destOrd="0" presId="urn:microsoft.com/office/officeart/2018/2/layout/IconVerticalSolidList"/>
    <dgm:cxn modelId="{FB618E37-C182-48BC-BA86-D57E11021785}" type="presParOf" srcId="{81781DB7-23F8-48FE-9208-C223D83FBE33}" destId="{F34B0B26-8C06-434F-B92B-18B8F1C1F963}" srcOrd="1" destOrd="0" presId="urn:microsoft.com/office/officeart/2018/2/layout/IconVerticalSolidList"/>
    <dgm:cxn modelId="{D3207858-42B7-41E0-ACA8-B6C658D15347}" type="presParOf" srcId="{81781DB7-23F8-48FE-9208-C223D83FBE33}" destId="{EC73E8CC-9D1F-4DB5-BCD6-1F8C6062D331}" srcOrd="2" destOrd="0" presId="urn:microsoft.com/office/officeart/2018/2/layout/IconVerticalSolidList"/>
    <dgm:cxn modelId="{983B50C3-BA06-4019-BC7B-B3FCC8D7DA86}" type="presParOf" srcId="{EC73E8CC-9D1F-4DB5-BCD6-1F8C6062D331}" destId="{E09C919F-907A-4666-B31A-89E6F5B1D305}" srcOrd="0" destOrd="0" presId="urn:microsoft.com/office/officeart/2018/2/layout/IconVerticalSolidList"/>
    <dgm:cxn modelId="{DEA0672F-280B-47F4-94F5-36EE1728A0C0}" type="presParOf" srcId="{EC73E8CC-9D1F-4DB5-BCD6-1F8C6062D331}" destId="{25A1D558-C058-4A28-B42B-E3E182C039D7}" srcOrd="1" destOrd="0" presId="urn:microsoft.com/office/officeart/2018/2/layout/IconVerticalSolidList"/>
    <dgm:cxn modelId="{4610726F-4435-429A-A5DE-588B24CD1FA1}" type="presParOf" srcId="{EC73E8CC-9D1F-4DB5-BCD6-1F8C6062D331}" destId="{47847251-5EA5-4071-BB64-9D3ED9E1F0B7}" srcOrd="2" destOrd="0" presId="urn:microsoft.com/office/officeart/2018/2/layout/IconVerticalSolidList"/>
    <dgm:cxn modelId="{3519852A-D89C-4B8D-8062-C8337BE3390B}" type="presParOf" srcId="{EC73E8CC-9D1F-4DB5-BCD6-1F8C6062D331}" destId="{2C2E3B58-F8F8-474A-BF71-C50EF32430C7}" srcOrd="3" destOrd="0" presId="urn:microsoft.com/office/officeart/2018/2/layout/IconVerticalSolidList"/>
    <dgm:cxn modelId="{CFB14BA1-CEFA-4099-BA7B-1FE00DBD8B7D}" type="presParOf" srcId="{EC73E8CC-9D1F-4DB5-BCD6-1F8C6062D331}" destId="{733CA99D-7E2D-4595-B2C0-D915840387FC}" srcOrd="4" destOrd="0" presId="urn:microsoft.com/office/officeart/2018/2/layout/IconVerticalSolidList"/>
    <dgm:cxn modelId="{3B10EF28-0C72-4988-BF36-D790DE30543E}" type="presParOf" srcId="{81781DB7-23F8-48FE-9208-C223D83FBE33}" destId="{56F46AC7-69B1-46BB-B7F2-F2263441AC0A}" srcOrd="3" destOrd="0" presId="urn:microsoft.com/office/officeart/2018/2/layout/IconVerticalSolidList"/>
    <dgm:cxn modelId="{14A77E35-5A50-4E15-885C-16704368A664}" type="presParOf" srcId="{81781DB7-23F8-48FE-9208-C223D83FBE33}" destId="{4FC718D4-D135-4482-B798-4160AA7EB5BD}" srcOrd="4" destOrd="0" presId="urn:microsoft.com/office/officeart/2018/2/layout/IconVerticalSolidList"/>
    <dgm:cxn modelId="{32E5B03B-BE31-4452-992B-ED5C487CA35F}" type="presParOf" srcId="{4FC718D4-D135-4482-B798-4160AA7EB5BD}" destId="{7C9358D0-391E-4C75-BD7E-1B62F2049A70}" srcOrd="0" destOrd="0" presId="urn:microsoft.com/office/officeart/2018/2/layout/IconVerticalSolidList"/>
    <dgm:cxn modelId="{F9FC023D-104B-4F80-B397-CD6C7E27F697}" type="presParOf" srcId="{4FC718D4-D135-4482-B798-4160AA7EB5BD}" destId="{D71C521C-8577-4BEE-8995-A838371DA0A5}" srcOrd="1" destOrd="0" presId="urn:microsoft.com/office/officeart/2018/2/layout/IconVerticalSolidList"/>
    <dgm:cxn modelId="{EB543AAA-F3B9-43B1-AE71-73C67F54B7C0}" type="presParOf" srcId="{4FC718D4-D135-4482-B798-4160AA7EB5BD}" destId="{78C136BC-A9F7-4EB8-A60C-4B26F4D79BEA}" srcOrd="2" destOrd="0" presId="urn:microsoft.com/office/officeart/2018/2/layout/IconVerticalSolidList"/>
    <dgm:cxn modelId="{CB03777E-97A1-4014-9604-B0B925431786}" type="presParOf" srcId="{4FC718D4-D135-4482-B798-4160AA7EB5BD}" destId="{CB4C3C1F-6671-4BAD-96BC-2B6452A01FEE}" srcOrd="3" destOrd="0" presId="urn:microsoft.com/office/officeart/2018/2/layout/IconVerticalSolidList"/>
    <dgm:cxn modelId="{6EFE254E-8AAE-4F73-8280-5F5170A76ED8}" type="presParOf" srcId="{4FC718D4-D135-4482-B798-4160AA7EB5BD}" destId="{F58EE2AE-808A-43F8-9CDC-3B7CDE05E4F8}" srcOrd="4" destOrd="0" presId="urn:microsoft.com/office/officeart/2018/2/layout/IconVerticalSolidList"/>
    <dgm:cxn modelId="{51320EEF-CFC9-426B-AF05-D9F4C2BCA78C}" type="presParOf" srcId="{81781DB7-23F8-48FE-9208-C223D83FBE33}" destId="{33B02800-FB81-42C6-BA8C-A9290111C6E5}" srcOrd="5" destOrd="0" presId="urn:microsoft.com/office/officeart/2018/2/layout/IconVerticalSolidList"/>
    <dgm:cxn modelId="{6813EAC0-82F8-48BF-ADB6-452E9B209572}" type="presParOf" srcId="{81781DB7-23F8-48FE-9208-C223D83FBE33}" destId="{FBC541FB-8F5B-443E-9DC1-B531A97D10C8}" srcOrd="6" destOrd="0" presId="urn:microsoft.com/office/officeart/2018/2/layout/IconVerticalSolidList"/>
    <dgm:cxn modelId="{2ACF8F26-5F37-4147-B594-F5D0FED92646}" type="presParOf" srcId="{FBC541FB-8F5B-443E-9DC1-B531A97D10C8}" destId="{CD3B1B18-D160-425D-B18B-4C856F633880}" srcOrd="0" destOrd="0" presId="urn:microsoft.com/office/officeart/2018/2/layout/IconVerticalSolidList"/>
    <dgm:cxn modelId="{456F2557-E2BC-4B13-ACF9-B7B60D206763}" type="presParOf" srcId="{FBC541FB-8F5B-443E-9DC1-B531A97D10C8}" destId="{86BA7C18-B9D5-4B95-A364-67B333BA99FC}" srcOrd="1" destOrd="0" presId="urn:microsoft.com/office/officeart/2018/2/layout/IconVerticalSolidList"/>
    <dgm:cxn modelId="{64F49D76-10B6-4704-A395-7630BE2D1033}" type="presParOf" srcId="{FBC541FB-8F5B-443E-9DC1-B531A97D10C8}" destId="{EE3FD079-42E7-4CBA-87F0-79759273B4F7}" srcOrd="2" destOrd="0" presId="urn:microsoft.com/office/officeart/2018/2/layout/IconVerticalSolidList"/>
    <dgm:cxn modelId="{D5FEB68C-3FCB-4DC4-A57A-FD452634351C}" type="presParOf" srcId="{FBC541FB-8F5B-443E-9DC1-B531A97D10C8}" destId="{FB457A51-1A08-4995-A0FD-1847285D3D41}" srcOrd="3" destOrd="0" presId="urn:microsoft.com/office/officeart/2018/2/layout/IconVerticalSolidList"/>
    <dgm:cxn modelId="{93959E28-5667-4082-A2FD-E60205F2881D}" type="presParOf" srcId="{81781DB7-23F8-48FE-9208-C223D83FBE33}" destId="{E3BF1DF8-2233-4B51-9EFA-81FA289409E0}" srcOrd="7" destOrd="0" presId="urn:microsoft.com/office/officeart/2018/2/layout/IconVerticalSolidList"/>
    <dgm:cxn modelId="{C3E6C8FF-2899-42CD-8C53-FE9DC0A40E2C}" type="presParOf" srcId="{81781DB7-23F8-48FE-9208-C223D83FBE33}" destId="{F0A65192-0B8E-4DB3-9ABA-E8674D8ED73A}" srcOrd="8" destOrd="0" presId="urn:microsoft.com/office/officeart/2018/2/layout/IconVerticalSolidList"/>
    <dgm:cxn modelId="{0BC7658F-7824-481C-8F9A-EF67EA2432CE}" type="presParOf" srcId="{F0A65192-0B8E-4DB3-9ABA-E8674D8ED73A}" destId="{13A901F3-40E3-4D80-89B2-3F642225E84C}" srcOrd="0" destOrd="0" presId="urn:microsoft.com/office/officeart/2018/2/layout/IconVerticalSolidList"/>
    <dgm:cxn modelId="{9824BDBD-6B82-40B4-9C12-C54A57117CBB}" type="presParOf" srcId="{F0A65192-0B8E-4DB3-9ABA-E8674D8ED73A}" destId="{4943675D-9F88-4AFA-AF96-26671A6DADD9}" srcOrd="1" destOrd="0" presId="urn:microsoft.com/office/officeart/2018/2/layout/IconVerticalSolidList"/>
    <dgm:cxn modelId="{52DC9093-5B50-4CB9-88C4-8951A5DCEA3D}" type="presParOf" srcId="{F0A65192-0B8E-4DB3-9ABA-E8674D8ED73A}" destId="{DA275D88-5AEF-4776-959F-FD451CF046C3}" srcOrd="2" destOrd="0" presId="urn:microsoft.com/office/officeart/2018/2/layout/IconVerticalSolidList"/>
    <dgm:cxn modelId="{A85B4A0E-B9D5-491E-8CF8-C3A3474BD4DD}" type="presParOf" srcId="{F0A65192-0B8E-4DB3-9ABA-E8674D8ED73A}" destId="{EEE6033C-579B-4664-B7C0-95CD6CD4F76A}" srcOrd="3" destOrd="0" presId="urn:microsoft.com/office/officeart/2018/2/layout/IconVerticalSolidList"/>
    <dgm:cxn modelId="{5D959ACC-0EA9-4414-9640-4C2FE209ABDB}" type="presParOf" srcId="{F0A65192-0B8E-4DB3-9ABA-E8674D8ED73A}" destId="{7513FC86-FEBA-4C6F-B00A-D3BEEFD9134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797B2-EFEA-49AF-824B-74F3AAE0F916}">
      <dsp:nvSpPr>
        <dsp:cNvPr id="0" name=""/>
        <dsp:cNvSpPr/>
      </dsp:nvSpPr>
      <dsp:spPr>
        <a:xfrm>
          <a:off x="-100013" y="12229"/>
          <a:ext cx="6666833" cy="904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CBF79-31B5-491E-B2EF-7C8FCDD50893}">
      <dsp:nvSpPr>
        <dsp:cNvPr id="0" name=""/>
        <dsp:cNvSpPr/>
      </dsp:nvSpPr>
      <dsp:spPr>
        <a:xfrm>
          <a:off x="173721" y="215834"/>
          <a:ext cx="497700" cy="4977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EAC14-CBCD-4D9F-8A1B-304E00C206C5}">
      <dsp:nvSpPr>
        <dsp:cNvPr id="0" name=""/>
        <dsp:cNvSpPr/>
      </dsp:nvSpPr>
      <dsp:spPr>
        <a:xfrm>
          <a:off x="945157" y="12229"/>
          <a:ext cx="3000074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cmvdb_uat (testing database) </a:t>
          </a:r>
          <a:endParaRPr lang="en-US" sz="1900" kern="1200"/>
        </a:p>
      </dsp:txBody>
      <dsp:txXfrm>
        <a:off x="945157" y="12229"/>
        <a:ext cx="3000074" cy="904910"/>
      </dsp:txXfrm>
    </dsp:sp>
    <dsp:sp modelId="{D4EE3BF8-778F-4FC5-A3A7-F014DD11426D}">
      <dsp:nvSpPr>
        <dsp:cNvPr id="0" name=""/>
        <dsp:cNvSpPr/>
      </dsp:nvSpPr>
      <dsp:spPr>
        <a:xfrm>
          <a:off x="3945232" y="12229"/>
          <a:ext cx="2619542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Journal principle, Every transaction most be registered</a:t>
          </a:r>
          <a:endParaRPr lang="en-US" sz="1100" kern="1200"/>
        </a:p>
      </dsp:txBody>
      <dsp:txXfrm>
        <a:off x="3945232" y="12229"/>
        <a:ext cx="2619542" cy="904910"/>
      </dsp:txXfrm>
    </dsp:sp>
    <dsp:sp modelId="{E09C919F-907A-4666-B31A-89E6F5B1D305}">
      <dsp:nvSpPr>
        <dsp:cNvPr id="0" name=""/>
        <dsp:cNvSpPr/>
      </dsp:nvSpPr>
      <dsp:spPr>
        <a:xfrm>
          <a:off x="-100013" y="1143367"/>
          <a:ext cx="6666833" cy="904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1D558-C058-4A28-B42B-E3E182C039D7}">
      <dsp:nvSpPr>
        <dsp:cNvPr id="0" name=""/>
        <dsp:cNvSpPr/>
      </dsp:nvSpPr>
      <dsp:spPr>
        <a:xfrm>
          <a:off x="173721" y="1346972"/>
          <a:ext cx="497700" cy="4977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E3B58-F8F8-474A-BF71-C50EF32430C7}">
      <dsp:nvSpPr>
        <dsp:cNvPr id="0" name=""/>
        <dsp:cNvSpPr/>
      </dsp:nvSpPr>
      <dsp:spPr>
        <a:xfrm>
          <a:off x="945157" y="1143367"/>
          <a:ext cx="3000074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Ticket_print</a:t>
          </a:r>
          <a:r>
            <a:rPr lang="en-US" sz="1900" b="0" i="0" kern="1200" dirty="0"/>
            <a:t> function</a:t>
          </a:r>
          <a:endParaRPr lang="en-US" sz="1900" kern="1200" dirty="0"/>
        </a:p>
      </dsp:txBody>
      <dsp:txXfrm>
        <a:off x="945157" y="1143367"/>
        <a:ext cx="3000074" cy="904910"/>
      </dsp:txXfrm>
    </dsp:sp>
    <dsp:sp modelId="{733CA99D-7E2D-4595-B2C0-D915840387FC}">
      <dsp:nvSpPr>
        <dsp:cNvPr id="0" name=""/>
        <dsp:cNvSpPr/>
      </dsp:nvSpPr>
      <dsp:spPr>
        <a:xfrm>
          <a:off x="3945232" y="1143367"/>
          <a:ext cx="2619542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inserts a new "trade" or line into the dbo.fxblotter.t (transactions)</a:t>
          </a:r>
          <a:endParaRPr lang="en-US" sz="1100" kern="1200"/>
        </a:p>
      </dsp:txBody>
      <dsp:txXfrm>
        <a:off x="3945232" y="1143367"/>
        <a:ext cx="2619542" cy="904910"/>
      </dsp:txXfrm>
    </dsp:sp>
    <dsp:sp modelId="{7C9358D0-391E-4C75-BD7E-1B62F2049A70}">
      <dsp:nvSpPr>
        <dsp:cNvPr id="0" name=""/>
        <dsp:cNvSpPr/>
      </dsp:nvSpPr>
      <dsp:spPr>
        <a:xfrm>
          <a:off x="-100013" y="2274504"/>
          <a:ext cx="6666833" cy="904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C521C-8577-4BEE-8995-A838371DA0A5}">
      <dsp:nvSpPr>
        <dsp:cNvPr id="0" name=""/>
        <dsp:cNvSpPr/>
      </dsp:nvSpPr>
      <dsp:spPr>
        <a:xfrm>
          <a:off x="173721" y="2478109"/>
          <a:ext cx="497700" cy="4977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C3C1F-6671-4BAD-96BC-2B6452A01FEE}">
      <dsp:nvSpPr>
        <dsp:cNvPr id="0" name=""/>
        <dsp:cNvSpPr/>
      </dsp:nvSpPr>
      <dsp:spPr>
        <a:xfrm>
          <a:off x="945157" y="2274504"/>
          <a:ext cx="3000074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Risk Management Read function for </a:t>
          </a:r>
          <a:r>
            <a:rPr lang="en-US" sz="1900" b="0" i="0" kern="1200" dirty="0" err="1"/>
            <a:t>cmvdb_uat</a:t>
          </a:r>
          <a:r>
            <a:rPr lang="en-US" sz="1900" b="0" i="0" kern="1200" dirty="0"/>
            <a:t> </a:t>
          </a:r>
          <a:endParaRPr lang="en-US" sz="1900" kern="1200" dirty="0"/>
        </a:p>
      </dsp:txBody>
      <dsp:txXfrm>
        <a:off x="945157" y="2274504"/>
        <a:ext cx="3000074" cy="904910"/>
      </dsp:txXfrm>
    </dsp:sp>
    <dsp:sp modelId="{F58EE2AE-808A-43F8-9CDC-3B7CDE05E4F8}">
      <dsp:nvSpPr>
        <dsp:cNvPr id="0" name=""/>
        <dsp:cNvSpPr/>
      </dsp:nvSpPr>
      <dsp:spPr>
        <a:xfrm>
          <a:off x="3945232" y="2274504"/>
          <a:ext cx="2619542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(Math calculation problem) analytics: </a:t>
          </a:r>
          <a:r>
            <a:rPr lang="en-US" sz="1100" b="0" i="0" kern="1200" dirty="0" err="1"/>
            <a:t>Fx</a:t>
          </a:r>
          <a:r>
            <a:rPr lang="en-US" sz="1100" b="0" i="0" kern="1200" dirty="0"/>
            <a:t> position </a:t>
          </a:r>
          <a:endParaRPr lang="en-US" sz="1100" kern="1200" dirty="0"/>
        </a:p>
      </dsp:txBody>
      <dsp:txXfrm>
        <a:off x="3945232" y="2274504"/>
        <a:ext cx="2619542" cy="904910"/>
      </dsp:txXfrm>
    </dsp:sp>
    <dsp:sp modelId="{CD3B1B18-D160-425D-B18B-4C856F633880}">
      <dsp:nvSpPr>
        <dsp:cNvPr id="0" name=""/>
        <dsp:cNvSpPr/>
      </dsp:nvSpPr>
      <dsp:spPr>
        <a:xfrm>
          <a:off x="-100013" y="3405642"/>
          <a:ext cx="6666833" cy="904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A7C18-B9D5-4B95-A364-67B333BA99FC}">
      <dsp:nvSpPr>
        <dsp:cNvPr id="0" name=""/>
        <dsp:cNvSpPr/>
      </dsp:nvSpPr>
      <dsp:spPr>
        <a:xfrm>
          <a:off x="173721" y="3609247"/>
          <a:ext cx="497700" cy="4977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57A51-1A08-4995-A0FD-1847285D3D41}">
      <dsp:nvSpPr>
        <dsp:cNvPr id="0" name=""/>
        <dsp:cNvSpPr/>
      </dsp:nvSpPr>
      <dsp:spPr>
        <a:xfrm>
          <a:off x="945157" y="3405642"/>
          <a:ext cx="5619617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Calculate PnL and EoD Profit n Loss report</a:t>
          </a:r>
          <a:endParaRPr lang="en-US" sz="1900" kern="1200"/>
        </a:p>
      </dsp:txBody>
      <dsp:txXfrm>
        <a:off x="945157" y="3405642"/>
        <a:ext cx="5619617" cy="904910"/>
      </dsp:txXfrm>
    </dsp:sp>
    <dsp:sp modelId="{13A901F3-40E3-4D80-89B2-3F642225E84C}">
      <dsp:nvSpPr>
        <dsp:cNvPr id="0" name=""/>
        <dsp:cNvSpPr/>
      </dsp:nvSpPr>
      <dsp:spPr>
        <a:xfrm>
          <a:off x="-100013" y="4536780"/>
          <a:ext cx="6666833" cy="904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3675D-9F88-4AFA-AF96-26671A6DADD9}">
      <dsp:nvSpPr>
        <dsp:cNvPr id="0" name=""/>
        <dsp:cNvSpPr/>
      </dsp:nvSpPr>
      <dsp:spPr>
        <a:xfrm>
          <a:off x="173721" y="4740384"/>
          <a:ext cx="497700" cy="4977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6033C-579B-4664-B7C0-95CD6CD4F76A}">
      <dsp:nvSpPr>
        <dsp:cNvPr id="0" name=""/>
        <dsp:cNvSpPr/>
      </dsp:nvSpPr>
      <dsp:spPr>
        <a:xfrm>
          <a:off x="945157" y="4536780"/>
          <a:ext cx="3000074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NightVision</a:t>
          </a:r>
          <a:r>
            <a:rPr lang="en-US" sz="1900" b="0" i="0" kern="1200" dirty="0"/>
            <a:t> - "the tool for sales traders" </a:t>
          </a:r>
          <a:endParaRPr lang="en-US" sz="1900" kern="1200" dirty="0"/>
        </a:p>
      </dsp:txBody>
      <dsp:txXfrm>
        <a:off x="945157" y="4536780"/>
        <a:ext cx="3000074" cy="904910"/>
      </dsp:txXfrm>
    </dsp:sp>
    <dsp:sp modelId="{7513FC86-FEBA-4C6F-B00A-D3BEEFD91343}">
      <dsp:nvSpPr>
        <dsp:cNvPr id="0" name=""/>
        <dsp:cNvSpPr/>
      </dsp:nvSpPr>
      <dsp:spPr>
        <a:xfrm>
          <a:off x="3743160" y="4536780"/>
          <a:ext cx="3023685" cy="90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70" tIns="95770" rIns="95770" bIns="9577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reads information from fxblotter.h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Rolling Analytics (20day, 10day, 5day; 20txs, 10txs, 5txs)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visualisation of historic spread flow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Aggregated analytics/metrics (total amount, total tickets, total clients, avg ticket bid, avg ticket offer)</a:t>
          </a:r>
          <a:endParaRPr lang="en-US" sz="1100" kern="1200" dirty="0"/>
        </a:p>
      </dsp:txBody>
      <dsp:txXfrm>
        <a:off x="3743160" y="4536780"/>
        <a:ext cx="3023685" cy="904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AC7D1-E8B0-41B8-83D9-967B5BC09BAF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6950B-C34C-4CF9-A429-794521481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4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6950B-C34C-4CF9-A429-7945214816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15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than can track all transactions and positions of currencies.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6950B-C34C-4CF9-A429-7945214816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92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6950B-C34C-4CF9-A429-7945214816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8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39E6-7AEA-44EB-9B4D-44703065E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90CB1-583A-40EB-AAE9-D9BBD593D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18D9D-C1B9-4098-AC5E-42763548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72689-EF7E-4075-9B25-51B258D9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B2F8C-785C-425B-86B4-A0DC22DC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06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EC7E-8A7E-4F21-8BD4-84D7ACB6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B1C31-8CB8-4935-8A51-CF7316721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D47F9-9972-4499-AEBB-D4F06F3F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C7403-6541-4F02-A103-FB851FAE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856BB-A8FB-48F7-A145-FA7A123A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7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0B1E-8C06-447F-8724-9A3CB2BE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23EF1-9CE1-444C-BF00-8DBBF6AFE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5F138-B6EA-4A84-BDC3-A554D35C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EDD2-CDC9-4265-BA54-FE8DA9D8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D0A4-067D-4A30-89D1-28F1E846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3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A54C-214D-4ED4-B69B-525D719A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70CAA-B614-4C06-B7CB-9EBC76235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97CF1-B90C-48BC-B7E2-6E6FB62BA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6608B-9268-4724-9A52-700FD1D1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45E4C-96B7-4ECF-A880-AF382633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87AFE-D2A0-4FE0-8A57-46513039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0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32D1-077A-4482-A624-B508CA57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B3FC5-A0B1-4B53-ADA4-124A8E335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9776E-9376-4F6F-8B39-5C0724B70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407B9-6E9E-409D-AAB7-79CE7A1A3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33344-650F-464A-90D7-1D4529178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7FBCE2-8479-4BC2-ADF7-A5FBF074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7A1F8-343F-48ED-8F4A-072D28CC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7A137-33D8-40AA-A467-ABC65265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2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60E8-2261-4FC9-843F-2592A9A6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F42B5-67F4-4414-8926-E4535FFD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C5129-7CF8-46E7-8C0D-9B393551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2AF63-548C-46BF-828E-E617C4B6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3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10638-6475-485F-9913-A30CA14C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CDE48-4270-413F-A39D-CB19D4D7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B04AD-E4E2-4616-9750-6B2988FB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6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924F-82FA-414C-B40D-9C110AEF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01BEE-A336-47E5-B1DA-34A886C77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85AB2-9D00-4CB9-87DD-2AADFE849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39DB6-8749-4F60-9E94-F7F90DBE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BB95E-E442-471A-8153-BD4A04D0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ED35C-E5E8-4108-99B5-F036FA41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D2F0-AF6C-4123-A139-83D24EA4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C3202-30F9-4725-89A3-7E201BC8A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D69A3-3463-4B8D-A7E2-91FF9BDDC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04A23-3523-4AF6-A581-71CE9F0E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CBBEF-0AF8-4E49-880C-E32B6A60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2AD2F-DBCA-4A90-B39D-8530BE5D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9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8989-7F88-4126-8178-0F026A8D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80104-FE97-4B19-BF07-6B8AC3A7C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EC95A-EEA6-406C-B12B-9B3D73D2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6B52A-B01C-4412-AF5B-11F15A18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8B0DB-45E4-4608-BE40-985840A9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1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F6F81-9599-4284-8FFD-9DC6BC648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F21F2-A124-431A-BB57-14019CBF0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68820-95A8-43FB-AB16-4F4A46A2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FA1CF-841D-420E-91B0-4F8C8598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2DFF7-5DF3-48AD-9E46-3F722B09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0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4ADAE-1486-4CB2-B3DC-47365B38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2CCD-8ED4-4321-8CBE-BE777A4E4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9A8C-8E04-4955-BC84-73E9A7866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395BE-AF6C-4EE3-8D66-E0FDA215D2A2}" type="datetimeFigureOut">
              <a:rPr lang="en-US" smtClean="0"/>
              <a:t>18/02/2021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B9FCC-EFF5-4CD7-BCDD-ABC76AB94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CE2AF-F72C-4777-9824-5A490C227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E2028-4541-4EFA-AC15-084BC0067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0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63118-AA84-4DCD-9589-CDA2D9A1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1134" y="1270007"/>
            <a:ext cx="6804280" cy="4317987"/>
          </a:xfrm>
        </p:spPr>
        <p:txBody>
          <a:bodyPr anchor="ctr">
            <a:normAutofit/>
          </a:bodyPr>
          <a:lstStyle/>
          <a:p>
            <a:pPr algn="l"/>
            <a:r>
              <a:rPr lang="en-US" sz="7200"/>
              <a:t>Get off spread sheets!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6BBEE-AFC3-43DC-8D13-3C2539E9A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481" y="1270007"/>
            <a:ext cx="2736266" cy="4317987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An FX trading blotter from scratch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972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51ED-CEB7-4D66-BC77-6A268977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1A83-9623-41FF-A806-72A67EC71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Infrastructure  - Server and data base </a:t>
            </a:r>
          </a:p>
          <a:p>
            <a:r>
              <a:rPr lang="en-US" dirty="0"/>
              <a:t>Business – what you need to know</a:t>
            </a:r>
          </a:p>
          <a:p>
            <a:r>
              <a:rPr lang="en-US" dirty="0"/>
              <a:t>The problem</a:t>
            </a:r>
          </a:p>
          <a:p>
            <a:r>
              <a:rPr lang="en-US" dirty="0"/>
              <a:t>The concept </a:t>
            </a:r>
          </a:p>
          <a:p>
            <a:pPr lvl="1"/>
            <a:r>
              <a:rPr lang="en-US" dirty="0" err="1"/>
              <a:t>Conponents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01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7F6F54-793E-42BB-BA13-79562A13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166932"/>
            <a:ext cx="3582073" cy="4279709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Business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What you need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73DB-6D87-4811-B890-267968A20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864" y="1528834"/>
            <a:ext cx="5716988" cy="3917808"/>
          </a:xfrm>
        </p:spPr>
        <p:txBody>
          <a:bodyPr anchor="ctr">
            <a:normAutofit/>
          </a:bodyPr>
          <a:lstStyle/>
          <a:p>
            <a:r>
              <a:rPr lang="en-US" sz="2400" b="0" i="0" dirty="0">
                <a:effectLst/>
                <a:latin typeface="-apple-system"/>
              </a:rPr>
              <a:t>Foreign Exchange Business</a:t>
            </a:r>
          </a:p>
          <a:p>
            <a:r>
              <a:rPr lang="en-US" sz="2400" dirty="0">
                <a:latin typeface="-apple-system"/>
              </a:rPr>
              <a:t>Selling and buying currency</a:t>
            </a:r>
            <a:endParaRPr lang="en-US" sz="2400" b="0" i="0" dirty="0">
              <a:effectLst/>
              <a:latin typeface="-apple-system"/>
            </a:endParaRPr>
          </a:p>
          <a:p>
            <a:r>
              <a:rPr lang="en-US" sz="2400" b="0" i="0" dirty="0">
                <a:effectLst/>
                <a:latin typeface="-apple-system"/>
              </a:rPr>
              <a:t>Only one currency pair (USD/CRC)</a:t>
            </a:r>
          </a:p>
          <a:p>
            <a:r>
              <a:rPr lang="en-US" sz="2400" dirty="0">
                <a:latin typeface="-apple-system"/>
              </a:rPr>
              <a:t>Team composed of:	</a:t>
            </a:r>
          </a:p>
          <a:p>
            <a:pPr lvl="1"/>
            <a:r>
              <a:rPr lang="en-US" sz="2000" b="0" i="0" dirty="0">
                <a:effectLst/>
                <a:latin typeface="-apple-system"/>
              </a:rPr>
              <a:t>1 Risk trader/manager</a:t>
            </a:r>
          </a:p>
          <a:p>
            <a:pPr lvl="1"/>
            <a:r>
              <a:rPr lang="en-US" sz="2000" dirty="0">
                <a:latin typeface="-apple-system"/>
              </a:rPr>
              <a:t>2 sales traders</a:t>
            </a:r>
            <a:r>
              <a:rPr lang="en-US" sz="2000" b="0" i="0" dirty="0">
                <a:effectLst/>
                <a:latin typeface="-apple-system"/>
              </a:rPr>
              <a:t> </a:t>
            </a:r>
          </a:p>
          <a:p>
            <a:r>
              <a:rPr lang="en-US" sz="2400" dirty="0">
                <a:latin typeface="-apple-system"/>
              </a:rPr>
              <a:t>Customer base is given</a:t>
            </a:r>
            <a:endParaRPr lang="en-US" sz="2400" b="0" i="0" dirty="0">
              <a:effectLst/>
              <a:latin typeface="-apple-system"/>
            </a:endParaRPr>
          </a:p>
          <a:p>
            <a:endParaRPr lang="en-US" sz="24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1308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7F6F54-793E-42BB-BA13-79562A13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166932"/>
            <a:ext cx="3582073" cy="4279709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73DB-6D87-4811-B890-267968A20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864" y="1166933"/>
            <a:ext cx="5716988" cy="4279709"/>
          </a:xfrm>
        </p:spPr>
        <p:txBody>
          <a:bodyPr anchor="ctr">
            <a:normAutofit/>
          </a:bodyPr>
          <a:lstStyle/>
          <a:p>
            <a:r>
              <a:rPr lang="en-US" sz="2200" b="0" i="0" dirty="0">
                <a:effectLst/>
                <a:latin typeface="-apple-system"/>
              </a:rPr>
              <a:t>How do we store executed transactions dealt with customers?</a:t>
            </a:r>
          </a:p>
          <a:p>
            <a:r>
              <a:rPr lang="en-US" sz="2200" b="0" i="0" dirty="0">
                <a:effectLst/>
                <a:latin typeface="-apple-system"/>
              </a:rPr>
              <a:t>How does sales traders add new transactions </a:t>
            </a:r>
          </a:p>
          <a:p>
            <a:r>
              <a:rPr lang="en-US" sz="2200" b="0" i="0" dirty="0">
                <a:effectLst/>
                <a:latin typeface="-apple-system"/>
              </a:rPr>
              <a:t>How to calculate FX position</a:t>
            </a:r>
            <a:endParaRPr lang="en-US" sz="2200" dirty="0">
              <a:latin typeface="-apple-system"/>
            </a:endParaRPr>
          </a:p>
          <a:p>
            <a:r>
              <a:rPr lang="en-US" sz="2200" b="0" i="0" dirty="0">
                <a:effectLst/>
                <a:latin typeface="-apple-system"/>
              </a:rPr>
              <a:t>Calculate </a:t>
            </a:r>
            <a:r>
              <a:rPr lang="en-US" sz="2200" b="0" i="0" dirty="0" err="1">
                <a:effectLst/>
                <a:latin typeface="-apple-system"/>
              </a:rPr>
              <a:t>PnL</a:t>
            </a:r>
            <a:r>
              <a:rPr lang="en-US" sz="2200" b="0" i="0" dirty="0">
                <a:effectLst/>
                <a:latin typeface="-apple-system"/>
              </a:rPr>
              <a:t> and </a:t>
            </a:r>
            <a:r>
              <a:rPr lang="en-US" sz="2200" b="0" i="0" dirty="0" err="1">
                <a:effectLst/>
                <a:latin typeface="-apple-system"/>
              </a:rPr>
              <a:t>EoD</a:t>
            </a:r>
            <a:r>
              <a:rPr lang="en-US" sz="2200" b="0" i="0" dirty="0">
                <a:effectLst/>
                <a:latin typeface="-apple-system"/>
              </a:rPr>
              <a:t> Profit n Loss report</a:t>
            </a:r>
          </a:p>
          <a:p>
            <a:r>
              <a:rPr lang="en-US" sz="2200" b="0" i="0" dirty="0">
                <a:effectLst/>
                <a:latin typeface="-apple-system"/>
              </a:rPr>
              <a:t>Customer analytics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9430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AF8F5-87C1-4275-B842-8C5CD8A3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89" y="1296537"/>
            <a:ext cx="4220967" cy="1907840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Infrastructure  - Server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C6E8597-0CCE-4A8A-9326-AA52691A1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E78FE76E-DF1D-420B-957F-8ECE93C02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CF2F61F0-9758-4DEF-AC08-7B00F04A4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6D9ABA1-E6FE-4870-8B7B-8D332B3DB4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736" r="-2" b="9230"/>
          <a:stretch/>
        </p:blipFill>
        <p:spPr>
          <a:xfrm>
            <a:off x="6575222" y="963689"/>
            <a:ext cx="4849488" cy="2232662"/>
          </a:xfrm>
          <a:prstGeom prst="rect">
            <a:avLst/>
          </a:prstGeom>
        </p:spPr>
      </p:pic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EB482BD9-9B1C-4BB6-9C0B-80CDA6F58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428999"/>
            <a:ext cx="4075054" cy="274121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Azure SQL subscription</a:t>
            </a:r>
          </a:p>
          <a:p>
            <a:r>
              <a:rPr lang="en-US" sz="2000">
                <a:solidFill>
                  <a:schemeClr val="bg1"/>
                </a:solidFill>
              </a:rPr>
              <a:t>Server on Azure SQL</a:t>
            </a:r>
          </a:p>
          <a:p>
            <a:r>
              <a:rPr lang="en-US" sz="2000">
                <a:solidFill>
                  <a:schemeClr val="bg1"/>
                </a:solidFill>
              </a:rPr>
              <a:t>Azure Data Studio + MSFT SQL server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2879A-C6FC-4C6B-8178-2D3A7500B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461"/>
          <a:stretch/>
        </p:blipFill>
        <p:spPr>
          <a:xfrm>
            <a:off x="6585046" y="3624037"/>
            <a:ext cx="4837061" cy="2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8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AF8F5-87C1-4275-B842-8C5CD8A3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Infrastructure  - Database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2BD9-9B1C-4BB6-9C0B-80CDA6F58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383121"/>
            <a:ext cx="3582072" cy="2793251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Testing database CMV_uat</a:t>
            </a:r>
          </a:p>
          <a:p>
            <a:r>
              <a:rPr lang="en-US" sz="2000">
                <a:solidFill>
                  <a:schemeClr val="bg1"/>
                </a:solidFill>
              </a:rPr>
              <a:t>Database design (schema)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890F1-AA4F-492F-8BD9-C33D6BF0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033" y="1285103"/>
            <a:ext cx="7176422" cy="373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7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F34DA-B368-4C50-AF03-831C624F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concept 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DD24070-B6DA-497A-9364-229D423BF5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5562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131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9FEEE8-E46D-4F9B-ADA4-F702BB295756}"/>
              </a:ext>
            </a:extLst>
          </p:cNvPr>
          <p:cNvSpPr/>
          <p:nvPr/>
        </p:nvSpPr>
        <p:spPr>
          <a:xfrm>
            <a:off x="2577232" y="541379"/>
            <a:ext cx="6666833" cy="906680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Calculator">
            <a:extLst>
              <a:ext uri="{FF2B5EF4-FFF2-40B4-BE49-F238E27FC236}">
                <a16:creationId xmlns:a16="http://schemas.microsoft.com/office/drawing/2014/main" id="{2C041648-D2BC-4E90-A700-2BCC155FB648}"/>
              </a:ext>
            </a:extLst>
          </p:cNvPr>
          <p:cNvSpPr/>
          <p:nvPr/>
        </p:nvSpPr>
        <p:spPr>
          <a:xfrm>
            <a:off x="2851502" y="745382"/>
            <a:ext cx="498674" cy="498674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6E1406-1B3E-4C2F-8234-56AFDA60F0BE}"/>
              </a:ext>
            </a:extLst>
          </p:cNvPr>
          <p:cNvGrpSpPr/>
          <p:nvPr/>
        </p:nvGrpSpPr>
        <p:grpSpPr>
          <a:xfrm>
            <a:off x="3624447" y="541379"/>
            <a:ext cx="3000074" cy="906680"/>
            <a:chOff x="1047215" y="2273619"/>
            <a:chExt cx="3000074" cy="9066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5A17D-8483-435F-A3A5-71A31261A389}"/>
                </a:ext>
              </a:extLst>
            </p:cNvPr>
            <p:cNvSpPr/>
            <p:nvPr/>
          </p:nvSpPr>
          <p:spPr>
            <a:xfrm>
              <a:off x="1047215" y="2273619"/>
              <a:ext cx="3000074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B91AA1-EC4B-4DD5-B5AE-29ECD2C6AA6F}"/>
                </a:ext>
              </a:extLst>
            </p:cNvPr>
            <p:cNvSpPr txBox="1"/>
            <p:nvPr/>
          </p:nvSpPr>
          <p:spPr>
            <a:xfrm>
              <a:off x="1047215" y="2273619"/>
              <a:ext cx="3000074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Connection and query data</a:t>
              </a:r>
              <a:r>
                <a:rPr lang="en-US" sz="1900" b="0" i="0" kern="1200" dirty="0"/>
                <a:t> </a:t>
              </a:r>
              <a:endParaRPr lang="en-US" sz="19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7A6A1B4-466B-46C8-B2AD-2152627CD895}"/>
              </a:ext>
            </a:extLst>
          </p:cNvPr>
          <p:cNvGrpSpPr/>
          <p:nvPr/>
        </p:nvGrpSpPr>
        <p:grpSpPr>
          <a:xfrm>
            <a:off x="6624522" y="541379"/>
            <a:ext cx="2618518" cy="906680"/>
            <a:chOff x="4047290" y="2273619"/>
            <a:chExt cx="2618518" cy="90668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882F19-E8EB-471D-9689-ED3B52091E98}"/>
                </a:ext>
              </a:extLst>
            </p:cNvPr>
            <p:cNvSpPr/>
            <p:nvPr/>
          </p:nvSpPr>
          <p:spPr>
            <a:xfrm>
              <a:off x="4047290" y="2273619"/>
              <a:ext cx="2618518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B0C2E7-7E86-4B20-A272-A056E8EE698A}"/>
                </a:ext>
              </a:extLst>
            </p:cNvPr>
            <p:cNvSpPr txBox="1"/>
            <p:nvPr/>
          </p:nvSpPr>
          <p:spPr>
            <a:xfrm>
              <a:off x="4047290" y="2273619"/>
              <a:ext cx="2618518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5CDC83F-7D94-4A59-A608-88D83CA68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17" y="2434282"/>
            <a:ext cx="5544314" cy="34846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C9842A-36E3-4E3B-9F9D-297E4D49D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992914"/>
            <a:ext cx="5977580" cy="265670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E8397C-C3CD-4216-A983-71EA3D00EE68}"/>
              </a:ext>
            </a:extLst>
          </p:cNvPr>
          <p:cNvSpPr/>
          <p:nvPr/>
        </p:nvSpPr>
        <p:spPr>
          <a:xfrm>
            <a:off x="2672179" y="3923930"/>
            <a:ext cx="426128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3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F7716E-47FA-4155-BD7B-2EBDBDD00077}"/>
              </a:ext>
            </a:extLst>
          </p:cNvPr>
          <p:cNvSpPr/>
          <p:nvPr/>
        </p:nvSpPr>
        <p:spPr>
          <a:xfrm>
            <a:off x="2367167" y="541379"/>
            <a:ext cx="6666833" cy="906680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Rectangle 20" descr="Photocopier">
            <a:extLst>
              <a:ext uri="{FF2B5EF4-FFF2-40B4-BE49-F238E27FC236}">
                <a16:creationId xmlns:a16="http://schemas.microsoft.com/office/drawing/2014/main" id="{E568C32F-E97B-4BA6-87A9-793C452F9E8B}"/>
              </a:ext>
            </a:extLst>
          </p:cNvPr>
          <p:cNvSpPr/>
          <p:nvPr/>
        </p:nvSpPr>
        <p:spPr>
          <a:xfrm>
            <a:off x="2641437" y="745382"/>
            <a:ext cx="498674" cy="498674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038072-0416-4D7E-A22D-D569006533BB}"/>
              </a:ext>
            </a:extLst>
          </p:cNvPr>
          <p:cNvGrpSpPr/>
          <p:nvPr/>
        </p:nvGrpSpPr>
        <p:grpSpPr>
          <a:xfrm>
            <a:off x="3414382" y="541379"/>
            <a:ext cx="3000074" cy="906680"/>
            <a:chOff x="1047215" y="1140269"/>
            <a:chExt cx="3000074" cy="90668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D51C3E-D509-4DBD-83F5-EACF036D6265}"/>
                </a:ext>
              </a:extLst>
            </p:cNvPr>
            <p:cNvSpPr/>
            <p:nvPr/>
          </p:nvSpPr>
          <p:spPr>
            <a:xfrm>
              <a:off x="1047215" y="1140269"/>
              <a:ext cx="3000074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6EAA96-219C-45A1-8BC1-32D324A12BCC}"/>
                </a:ext>
              </a:extLst>
            </p:cNvPr>
            <p:cNvSpPr txBox="1"/>
            <p:nvPr/>
          </p:nvSpPr>
          <p:spPr>
            <a:xfrm>
              <a:off x="1047215" y="1140269"/>
              <a:ext cx="3000074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0" i="0" kern="1200" dirty="0" err="1"/>
                <a:t>Ticket_print</a:t>
              </a:r>
              <a:r>
                <a:rPr lang="en-US" sz="1900" b="0" i="0" kern="1200" dirty="0"/>
                <a:t> function</a:t>
              </a:r>
              <a:endParaRPr lang="en-US" sz="19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F5A7D05-3B3D-4859-909D-362D6324CE09}"/>
              </a:ext>
            </a:extLst>
          </p:cNvPr>
          <p:cNvGrpSpPr/>
          <p:nvPr/>
        </p:nvGrpSpPr>
        <p:grpSpPr>
          <a:xfrm>
            <a:off x="6414457" y="541379"/>
            <a:ext cx="2618518" cy="906680"/>
            <a:chOff x="4047290" y="1140269"/>
            <a:chExt cx="2618518" cy="90668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29A8DF-CB82-49E6-8D6E-98F94F76791D}"/>
                </a:ext>
              </a:extLst>
            </p:cNvPr>
            <p:cNvSpPr/>
            <p:nvPr/>
          </p:nvSpPr>
          <p:spPr>
            <a:xfrm>
              <a:off x="4047290" y="1140269"/>
              <a:ext cx="2618518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B7BC85-B916-4732-BD10-7824AAB4DE7E}"/>
                </a:ext>
              </a:extLst>
            </p:cNvPr>
            <p:cNvSpPr txBox="1"/>
            <p:nvPr/>
          </p:nvSpPr>
          <p:spPr>
            <a:xfrm>
              <a:off x="4047290" y="1140269"/>
              <a:ext cx="2618518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0" i="0" kern="1200"/>
                <a:t>inserts a new "trade" or line into the dbo.fxblotter.t (transactions)</a:t>
              </a:r>
              <a:endParaRPr lang="en-US" sz="1100" kern="120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E67C3999-0003-47FC-8F88-0DC8EA489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115" y="1652062"/>
            <a:ext cx="8863770" cy="514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82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9FEEE8-E46D-4F9B-ADA4-F702BB295756}"/>
              </a:ext>
            </a:extLst>
          </p:cNvPr>
          <p:cNvSpPr/>
          <p:nvPr/>
        </p:nvSpPr>
        <p:spPr>
          <a:xfrm>
            <a:off x="2577232" y="541379"/>
            <a:ext cx="6666833" cy="906680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Calculator">
            <a:extLst>
              <a:ext uri="{FF2B5EF4-FFF2-40B4-BE49-F238E27FC236}">
                <a16:creationId xmlns:a16="http://schemas.microsoft.com/office/drawing/2014/main" id="{2C041648-D2BC-4E90-A700-2BCC155FB648}"/>
              </a:ext>
            </a:extLst>
          </p:cNvPr>
          <p:cNvSpPr/>
          <p:nvPr/>
        </p:nvSpPr>
        <p:spPr>
          <a:xfrm>
            <a:off x="2851502" y="745382"/>
            <a:ext cx="498674" cy="498674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6E1406-1B3E-4C2F-8234-56AFDA60F0BE}"/>
              </a:ext>
            </a:extLst>
          </p:cNvPr>
          <p:cNvGrpSpPr/>
          <p:nvPr/>
        </p:nvGrpSpPr>
        <p:grpSpPr>
          <a:xfrm>
            <a:off x="3624447" y="541379"/>
            <a:ext cx="3000074" cy="906680"/>
            <a:chOff x="1047215" y="2273619"/>
            <a:chExt cx="3000074" cy="9066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5A17D-8483-435F-A3A5-71A31261A389}"/>
                </a:ext>
              </a:extLst>
            </p:cNvPr>
            <p:cNvSpPr/>
            <p:nvPr/>
          </p:nvSpPr>
          <p:spPr>
            <a:xfrm>
              <a:off x="1047215" y="2273619"/>
              <a:ext cx="3000074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B91AA1-EC4B-4DD5-B5AE-29ECD2C6AA6F}"/>
                </a:ext>
              </a:extLst>
            </p:cNvPr>
            <p:cNvSpPr txBox="1"/>
            <p:nvPr/>
          </p:nvSpPr>
          <p:spPr>
            <a:xfrm>
              <a:off x="1047215" y="2273619"/>
              <a:ext cx="3000074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0" i="0" kern="1200" dirty="0"/>
                <a:t>Risk Management Read function for </a:t>
              </a:r>
              <a:r>
                <a:rPr lang="en-US" sz="1900" b="0" i="0" kern="1200" dirty="0" err="1"/>
                <a:t>cmvdb_uat</a:t>
              </a:r>
              <a:r>
                <a:rPr lang="en-US" sz="1900" b="0" i="0" kern="1200" dirty="0"/>
                <a:t> </a:t>
              </a:r>
              <a:endParaRPr lang="en-US" sz="19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7A6A1B4-466B-46C8-B2AD-2152627CD895}"/>
              </a:ext>
            </a:extLst>
          </p:cNvPr>
          <p:cNvGrpSpPr/>
          <p:nvPr/>
        </p:nvGrpSpPr>
        <p:grpSpPr>
          <a:xfrm>
            <a:off x="6624522" y="541379"/>
            <a:ext cx="2618518" cy="906680"/>
            <a:chOff x="4047290" y="2273619"/>
            <a:chExt cx="2618518" cy="90668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882F19-E8EB-471D-9689-ED3B52091E98}"/>
                </a:ext>
              </a:extLst>
            </p:cNvPr>
            <p:cNvSpPr/>
            <p:nvPr/>
          </p:nvSpPr>
          <p:spPr>
            <a:xfrm>
              <a:off x="4047290" y="2273619"/>
              <a:ext cx="2618518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B0C2E7-7E86-4B20-A272-A056E8EE698A}"/>
                </a:ext>
              </a:extLst>
            </p:cNvPr>
            <p:cNvSpPr txBox="1"/>
            <p:nvPr/>
          </p:nvSpPr>
          <p:spPr>
            <a:xfrm>
              <a:off x="4047290" y="2273619"/>
              <a:ext cx="2618518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0" i="0" kern="1200" dirty="0"/>
                <a:t>(Math calculation problem) analytics: </a:t>
              </a:r>
              <a:r>
                <a:rPr lang="en-US" sz="1100" b="0" i="0" kern="1200" dirty="0" err="1"/>
                <a:t>Fx</a:t>
              </a:r>
              <a:r>
                <a:rPr lang="en-US" sz="1100" b="0" i="0" kern="1200" dirty="0"/>
                <a:t> position </a:t>
              </a:r>
              <a:endParaRPr lang="en-US" sz="1100" kern="1200" dirty="0"/>
            </a:p>
          </p:txBody>
        </p:sp>
      </p:grpSp>
      <p:pic>
        <p:nvPicPr>
          <p:cNvPr id="16" name="Content Placeholder 16">
            <a:extLst>
              <a:ext uri="{FF2B5EF4-FFF2-40B4-BE49-F238E27FC236}">
                <a16:creationId xmlns:a16="http://schemas.microsoft.com/office/drawing/2014/main" id="{09659016-40D0-4631-A654-331AFDB7E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81932" y="1761280"/>
            <a:ext cx="5082148" cy="4351338"/>
          </a:xfrm>
        </p:spPr>
      </p:pic>
    </p:spTree>
    <p:extLst>
      <p:ext uri="{BB962C8B-B14F-4D97-AF65-F5344CB8AC3E}">
        <p14:creationId xmlns:p14="http://schemas.microsoft.com/office/powerpoint/2010/main" val="96180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415829B-EAE8-4839-8610-E6BB6CB1A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932" y="1761280"/>
            <a:ext cx="5082148" cy="4351338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882F19-E8EB-471D-9689-ED3B52091E98}"/>
              </a:ext>
            </a:extLst>
          </p:cNvPr>
          <p:cNvSpPr/>
          <p:nvPr/>
        </p:nvSpPr>
        <p:spPr>
          <a:xfrm>
            <a:off x="6624522" y="541379"/>
            <a:ext cx="2618518" cy="90668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233161-B954-431A-BECF-0201937E7A8D}"/>
              </a:ext>
            </a:extLst>
          </p:cNvPr>
          <p:cNvSpPr/>
          <p:nvPr/>
        </p:nvSpPr>
        <p:spPr>
          <a:xfrm>
            <a:off x="2762583" y="541379"/>
            <a:ext cx="6666833" cy="906680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 descr="Bar chart">
            <a:extLst>
              <a:ext uri="{FF2B5EF4-FFF2-40B4-BE49-F238E27FC236}">
                <a16:creationId xmlns:a16="http://schemas.microsoft.com/office/drawing/2014/main" id="{6D8441DA-872D-40D8-8892-80AFFB9B4AAA}"/>
              </a:ext>
            </a:extLst>
          </p:cNvPr>
          <p:cNvSpPr/>
          <p:nvPr/>
        </p:nvSpPr>
        <p:spPr>
          <a:xfrm>
            <a:off x="3036853" y="745382"/>
            <a:ext cx="498674" cy="498674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11A328-5DD7-412D-89A5-0993CC0ED21D}"/>
              </a:ext>
            </a:extLst>
          </p:cNvPr>
          <p:cNvGrpSpPr/>
          <p:nvPr/>
        </p:nvGrpSpPr>
        <p:grpSpPr>
          <a:xfrm>
            <a:off x="3809798" y="541379"/>
            <a:ext cx="5618593" cy="906680"/>
            <a:chOff x="1047215" y="3406970"/>
            <a:chExt cx="5618593" cy="90668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1FA747-E388-4579-B0DB-91B7C7D258E3}"/>
                </a:ext>
              </a:extLst>
            </p:cNvPr>
            <p:cNvSpPr/>
            <p:nvPr/>
          </p:nvSpPr>
          <p:spPr>
            <a:xfrm>
              <a:off x="1047215" y="3406970"/>
              <a:ext cx="5618593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CB0102-3CB0-44CA-878A-5986C8F76D24}"/>
                </a:ext>
              </a:extLst>
            </p:cNvPr>
            <p:cNvSpPr txBox="1"/>
            <p:nvPr/>
          </p:nvSpPr>
          <p:spPr>
            <a:xfrm>
              <a:off x="1047215" y="3406970"/>
              <a:ext cx="5618593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0" i="0" kern="1200"/>
                <a:t>Calculate PnL and EoD Profit n Loss report</a:t>
              </a:r>
              <a:endParaRPr lang="en-US" sz="19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79306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D2E1-83F9-4D6C-B66B-B3DF9584C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5594" y="4200698"/>
            <a:ext cx="3000074" cy="524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Under construction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6A023D-E8FD-4B25-95B6-C4AE6A7C46C3}"/>
              </a:ext>
            </a:extLst>
          </p:cNvPr>
          <p:cNvSpPr/>
          <p:nvPr/>
        </p:nvSpPr>
        <p:spPr>
          <a:xfrm>
            <a:off x="2527805" y="491952"/>
            <a:ext cx="6666833" cy="906680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 descr="3d Glasses with solid fill">
            <a:extLst>
              <a:ext uri="{FF2B5EF4-FFF2-40B4-BE49-F238E27FC236}">
                <a16:creationId xmlns:a16="http://schemas.microsoft.com/office/drawing/2014/main" id="{9F0CDC93-AC58-484D-9D0B-565C35EF1173}"/>
              </a:ext>
            </a:extLst>
          </p:cNvPr>
          <p:cNvSpPr/>
          <p:nvPr/>
        </p:nvSpPr>
        <p:spPr>
          <a:xfrm>
            <a:off x="2802075" y="695955"/>
            <a:ext cx="498674" cy="498674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3D82DE-1E0E-40BB-ACA1-7E7ED8032AEB}"/>
              </a:ext>
            </a:extLst>
          </p:cNvPr>
          <p:cNvGrpSpPr/>
          <p:nvPr/>
        </p:nvGrpSpPr>
        <p:grpSpPr>
          <a:xfrm>
            <a:off x="3575020" y="491952"/>
            <a:ext cx="4629866" cy="906680"/>
            <a:chOff x="1047215" y="4540320"/>
            <a:chExt cx="3000074" cy="90668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119CB0-3E3D-4972-91AB-734B558229A8}"/>
                </a:ext>
              </a:extLst>
            </p:cNvPr>
            <p:cNvSpPr/>
            <p:nvPr/>
          </p:nvSpPr>
          <p:spPr>
            <a:xfrm>
              <a:off x="1047215" y="4540320"/>
              <a:ext cx="3000074" cy="9066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7FD5496-6446-4123-AE37-1AE16E490C20}"/>
                </a:ext>
              </a:extLst>
            </p:cNvPr>
            <p:cNvSpPr txBox="1"/>
            <p:nvPr/>
          </p:nvSpPr>
          <p:spPr>
            <a:xfrm>
              <a:off x="1047215" y="4540320"/>
              <a:ext cx="3000074" cy="906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5957" tIns="95957" rIns="95957" bIns="95957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0" i="0" kern="1200" dirty="0" err="1"/>
                <a:t>NightVision</a:t>
              </a:r>
              <a:r>
                <a:rPr lang="en-US" sz="1900" b="0" i="0" kern="1200" dirty="0"/>
                <a:t> - "the tool for sales traders" </a:t>
              </a:r>
              <a:endParaRPr lang="en-US" sz="1900" kern="1200" dirty="0"/>
            </a:p>
          </p:txBody>
        </p:sp>
      </p:grpSp>
      <p:pic>
        <p:nvPicPr>
          <p:cNvPr id="20" name="Graphic 19" descr="Tools with solid fill">
            <a:extLst>
              <a:ext uri="{FF2B5EF4-FFF2-40B4-BE49-F238E27FC236}">
                <a16:creationId xmlns:a16="http://schemas.microsoft.com/office/drawing/2014/main" id="{1F1CC21A-2851-45B9-8932-72A3B305D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5146" y="2267465"/>
            <a:ext cx="914400" cy="914400"/>
          </a:xfrm>
          <a:prstGeom prst="rect">
            <a:avLst/>
          </a:prstGeom>
        </p:spPr>
      </p:pic>
      <p:pic>
        <p:nvPicPr>
          <p:cNvPr id="22" name="Graphic 21" descr="Tools outline">
            <a:extLst>
              <a:ext uri="{FF2B5EF4-FFF2-40B4-BE49-F238E27FC236}">
                <a16:creationId xmlns:a16="http://schemas.microsoft.com/office/drawing/2014/main" id="{F3F77085-4E4F-4C5D-B268-9A732AB9BF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146" y="24174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3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1091</TotalTime>
  <Words>333</Words>
  <Application>Microsoft Office PowerPoint</Application>
  <PresentationFormat>Widescreen</PresentationFormat>
  <Paragraphs>55</Paragraphs>
  <Slides>12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Office Theme</vt:lpstr>
      <vt:lpstr>Get off spread sheets!</vt:lpstr>
      <vt:lpstr>PowerPoint Presentation</vt:lpstr>
      <vt:lpstr>Business What you need to know</vt:lpstr>
      <vt:lpstr>The problem</vt:lpstr>
      <vt:lpstr>Infrastructure  - Server</vt:lpstr>
      <vt:lpstr>Infrastructure  - Database </vt:lpstr>
      <vt:lpstr>The concept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 off spread sheets!</dc:title>
  <dc:creator>Esteban Cervantes</dc:creator>
  <cp:lastModifiedBy>Esteban Cervantes</cp:lastModifiedBy>
  <cp:revision>17</cp:revision>
  <dcterms:created xsi:type="dcterms:W3CDTF">2021-02-18T21:02:38Z</dcterms:created>
  <dcterms:modified xsi:type="dcterms:W3CDTF">2021-02-19T15:14:11Z</dcterms:modified>
</cp:coreProperties>
</file>